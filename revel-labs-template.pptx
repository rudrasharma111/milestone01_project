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66FF8B8-9D5C-4F1A-BA7E-00848C8DA608}">
          <p14:sldIdLst>
            <p14:sldId id="256"/>
            <p14:sldId id="259"/>
            <p14:sldId id="260"/>
            <p14:sldId id="261"/>
            <p14:sldId id="262"/>
            <p14:sldId id="263"/>
            <p14:sldId id="264"/>
            <p14:sldId id="266"/>
          </p14:sldIdLst>
        </p14:section>
        <p14:section name="Untitled Section" id="{521814DF-8F26-480D-AF35-0F1BA2DEDD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6D6"/>
    <a:srgbClr val="FFFFFF"/>
    <a:srgbClr val="6993AC"/>
    <a:srgbClr val="5FB3E5"/>
    <a:srgbClr val="3A7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4776AC-F6FF-4D25-B78E-8BCD67556C7C}" v="112" dt="2026-04-24T17:43:02.2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41" autoAdjust="0"/>
  </p:normalViewPr>
  <p:slideViewPr>
    <p:cSldViewPr snapToGrid="0">
      <p:cViewPr>
        <p:scale>
          <a:sx n="100" d="100"/>
          <a:sy n="100" d="100"/>
        </p:scale>
        <p:origin x="1085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35b41f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35b41f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100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l Templat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25" name="Google Shape;2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32" name="Google Shape;3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5" name="Google Shape;3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pic>
        <p:nvPicPr>
          <p:cNvPr id="43" name="Google Shape;4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47" name="Google Shape;4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l="34491" t="7982" b="9298"/>
          <a:stretch/>
        </p:blipFill>
        <p:spPr>
          <a:xfrm>
            <a:off x="0" y="0"/>
            <a:ext cx="4073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18484" y="1195551"/>
            <a:ext cx="4679895" cy="8637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>
              <a:buSzPts val="990"/>
            </a:pPr>
            <a:r>
              <a:rPr lang="en-IN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Analytics Pipeline</a:t>
            </a:r>
            <a:endParaRPr sz="2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975" y="1555875"/>
            <a:ext cx="4887674" cy="17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>
            <a:spLocks noGrp="1"/>
          </p:cNvSpPr>
          <p:nvPr>
            <p:ph type="title" idx="4294967295"/>
          </p:nvPr>
        </p:nvSpPr>
        <p:spPr>
          <a:xfrm>
            <a:off x="111351" y="2059259"/>
            <a:ext cx="327156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990"/>
            </a:pPr>
            <a:r>
              <a:rPr lang="en-US" sz="16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 with Docker, DBT,SQL, Python</a:t>
            </a:r>
            <a:endParaRPr sz="16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87900" y="4448050"/>
            <a:ext cx="23886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2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26722-4BF5-810B-95B3-4CB181FA38C9}"/>
              </a:ext>
            </a:extLst>
          </p:cNvPr>
          <p:cNvSpPr txBox="1"/>
          <p:nvPr/>
        </p:nvSpPr>
        <p:spPr>
          <a:xfrm>
            <a:off x="111351" y="2954423"/>
            <a:ext cx="4601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- Rudra Sharma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6DF44-E7BF-3B6B-9F14-AEE596B45CF7}"/>
              </a:ext>
            </a:extLst>
          </p:cNvPr>
          <p:cNvSpPr txBox="1"/>
          <p:nvPr/>
        </p:nvSpPr>
        <p:spPr>
          <a:xfrm>
            <a:off x="111351" y="3465242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– 24-04-2026</a:t>
            </a:r>
            <a:endParaRPr lang="en-IN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3B14-FA74-B657-4279-7148542D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1" y="445025"/>
            <a:ext cx="7486720" cy="5727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End-to-End Analytics Pipeline and Folder</a:t>
            </a:r>
            <a:r>
              <a:rPr lang="en-IN" sz="2000" b="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IN" sz="2000" b="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3BDE-BA9B-D510-D6F1-160ED9CD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57" y="990454"/>
            <a:ext cx="2683728" cy="3915329"/>
          </a:xfrm>
          <a:ln>
            <a:solidFill>
              <a:schemeClr val="bg2"/>
            </a:solidFill>
          </a:ln>
        </p:spPr>
        <p:txBody>
          <a:bodyPr>
            <a:normAutofit fontScale="40000" lnSpcReduction="20000"/>
          </a:bodyPr>
          <a:lstStyle/>
          <a:p>
            <a:pPr marL="11430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dbt_project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data/ # CSV files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├── customers.csv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├── products.csv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├── orders.csv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└── order_items.csv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├── ingestion.py</a:t>
            </a:r>
          </a:p>
          <a:p>
            <a:pPr marL="11430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models/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├── staging/ # Bronze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│ ├──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stg_customers.sql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│ ├──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stg_products.sql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│ ├──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stg_orders.sql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│ └──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stg_order_items.sql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├── intermediate/ # Silver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│ └──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int_orders.sql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├── marts/ # Gold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│ ├──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dim_customers.sql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│ ├──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dim_products.sql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│ └──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fct_orders.sql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└──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schema.yml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tests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macros/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└──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clean_string.sql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analyses/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└──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analytics_queries.sql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dbt_project.yml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docker-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compose.yml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README.md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1686B-FD9B-66FC-0442-2234D81A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8" t="4276"/>
          <a:stretch>
            <a:fillRect/>
          </a:stretch>
        </p:blipFill>
        <p:spPr>
          <a:xfrm>
            <a:off x="2833363" y="1114836"/>
            <a:ext cx="5819984" cy="3595226"/>
          </a:xfrm>
          <a:prstGeom prst="rect">
            <a:avLst/>
          </a:prstGeom>
          <a:ln>
            <a:solidFill>
              <a:schemeClr val="bg2"/>
            </a:solidFill>
          </a:ln>
        </p:spPr>
      </p:pic>
      <p:grpSp>
        <p:nvGrpSpPr>
          <p:cNvPr id="7" name="Google Shape;123;p15">
            <a:extLst>
              <a:ext uri="{FF2B5EF4-FFF2-40B4-BE49-F238E27FC236}">
                <a16:creationId xmlns:a16="http://schemas.microsoft.com/office/drawing/2014/main" id="{8380524D-78EA-1927-1ADB-1B248C5DFF10}"/>
              </a:ext>
            </a:extLst>
          </p:cNvPr>
          <p:cNvGrpSpPr/>
          <p:nvPr/>
        </p:nvGrpSpPr>
        <p:grpSpPr>
          <a:xfrm>
            <a:off x="8087465" y="210600"/>
            <a:ext cx="849300" cy="874500"/>
            <a:chOff x="1183209" y="3304375"/>
            <a:chExt cx="849300" cy="874500"/>
          </a:xfrm>
        </p:grpSpPr>
        <p:sp>
          <p:nvSpPr>
            <p:cNvPr id="8" name="Google Shape;124;p15">
              <a:extLst>
                <a:ext uri="{FF2B5EF4-FFF2-40B4-BE49-F238E27FC236}">
                  <a16:creationId xmlns:a16="http://schemas.microsoft.com/office/drawing/2014/main" id="{91EC1302-B806-98A0-072C-49E5942030B4}"/>
                </a:ext>
              </a:extLst>
            </p:cNvPr>
            <p:cNvSpPr/>
            <p:nvPr/>
          </p:nvSpPr>
          <p:spPr>
            <a:xfrm>
              <a:off x="1183209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9" name="Google Shape;125;p15">
              <a:extLst>
                <a:ext uri="{FF2B5EF4-FFF2-40B4-BE49-F238E27FC236}">
                  <a16:creationId xmlns:a16="http://schemas.microsoft.com/office/drawing/2014/main" id="{916F4B1D-B71C-6BB2-C5FE-4EAC98CF3C7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21509" y="34552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69053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AB15-581D-18F3-3CF0-8B965F05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445025"/>
            <a:ext cx="16576047" cy="504142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 Execution Flow</a:t>
            </a:r>
            <a:endParaRPr lang="en-IN" b="0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22E4E-3709-F42F-1E5C-DD0C23D68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219" y="1319525"/>
            <a:ext cx="8290560" cy="3007424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Step-by-Step Flow </a:t>
            </a:r>
            <a:r>
              <a:rPr lang="en-IN" dirty="0"/>
              <a:t>4 CSV Files (</a:t>
            </a:r>
            <a:r>
              <a:rPr lang="en-IN" dirty="0" err="1"/>
              <a:t>Raw_Customers</a:t>
            </a:r>
            <a:r>
              <a:rPr lang="en-IN" dirty="0"/>
              <a:t>, Raw_ Orders, Raw_ </a:t>
            </a:r>
            <a:r>
              <a:rPr lang="en-IN" dirty="0" err="1"/>
              <a:t>Order_Items</a:t>
            </a:r>
            <a:r>
              <a:rPr lang="en-IN" dirty="0"/>
              <a:t>, Raw_ Products).</a:t>
            </a:r>
          </a:p>
          <a:p>
            <a:endParaRPr lang="en-IN" dirty="0"/>
          </a:p>
          <a:p>
            <a:r>
              <a:rPr lang="en-IN" b="1" dirty="0"/>
              <a:t>Ingestion (Python/</a:t>
            </a:r>
            <a:r>
              <a:rPr lang="en-IN" b="1" dirty="0" err="1"/>
              <a:t>Pydantic</a:t>
            </a:r>
            <a:r>
              <a:rPr lang="en-IN" b="1" dirty="0"/>
              <a:t>):</a:t>
            </a:r>
            <a:endParaRPr lang="en-IN" dirty="0"/>
          </a:p>
          <a:p>
            <a:pPr lvl="1"/>
            <a:r>
              <a:rPr lang="en-IN" dirty="0"/>
              <a:t>Python script reads CSV ➔ </a:t>
            </a:r>
            <a:r>
              <a:rPr lang="en-IN" b="1" dirty="0"/>
              <a:t>Field</a:t>
            </a:r>
            <a:r>
              <a:rPr lang="en-IN" dirty="0"/>
              <a:t> Validates Schema ➔ Loads into </a:t>
            </a:r>
            <a:r>
              <a:rPr lang="en-IN" dirty="0" err="1"/>
              <a:t>Dockerized</a:t>
            </a:r>
            <a:r>
              <a:rPr lang="en-IN" dirty="0"/>
              <a:t> Postgres.</a:t>
            </a:r>
          </a:p>
          <a:p>
            <a:pPr lvl="1"/>
            <a:endParaRPr lang="en-IN" dirty="0"/>
          </a:p>
          <a:p>
            <a:r>
              <a:rPr lang="en-IN" b="1" dirty="0"/>
              <a:t>Transformation (</a:t>
            </a:r>
            <a:r>
              <a:rPr lang="en-IN" b="1" dirty="0" err="1"/>
              <a:t>dbt</a:t>
            </a:r>
            <a:r>
              <a:rPr lang="en-IN" b="1" dirty="0"/>
              <a:t>):</a:t>
            </a:r>
            <a:endParaRPr lang="en-IN" dirty="0"/>
          </a:p>
          <a:p>
            <a:pPr lvl="1"/>
            <a:r>
              <a:rPr lang="en-IN" b="1" dirty="0"/>
              <a:t>Staging:</a:t>
            </a:r>
            <a:r>
              <a:rPr lang="en-IN" dirty="0"/>
              <a:t> Raw data cleaning </a:t>
            </a:r>
            <a:r>
              <a:rPr lang="en-IN" b="1" dirty="0" err="1"/>
              <a:t>order_stg</a:t>
            </a:r>
            <a:r>
              <a:rPr lang="en-IN" b="1" dirty="0"/>
              <a:t> etc</a:t>
            </a:r>
            <a:r>
              <a:rPr lang="en-IN" dirty="0"/>
              <a:t>.(Bronze layer)</a:t>
            </a:r>
          </a:p>
          <a:p>
            <a:pPr lvl="1"/>
            <a:r>
              <a:rPr lang="en-IN" b="1" dirty="0"/>
              <a:t>Intermediate:</a:t>
            </a:r>
            <a:r>
              <a:rPr lang="en-IN" dirty="0"/>
              <a:t> Business logic and joins </a:t>
            </a:r>
            <a:r>
              <a:rPr lang="en-IN" b="1" dirty="0" err="1"/>
              <a:t>int_order</a:t>
            </a:r>
            <a:r>
              <a:rPr lang="en-IN" dirty="0"/>
              <a:t>. (Silver layer)</a:t>
            </a:r>
          </a:p>
          <a:p>
            <a:pPr lvl="1"/>
            <a:r>
              <a:rPr lang="en-IN" b="1" dirty="0"/>
              <a:t>Marts:</a:t>
            </a:r>
            <a:r>
              <a:rPr lang="en-IN" dirty="0"/>
              <a:t> Analytics-ready fact and dimension tables </a:t>
            </a:r>
            <a:r>
              <a:rPr lang="en-IN" b="1" dirty="0" err="1"/>
              <a:t>dim_product,fact_order</a:t>
            </a:r>
            <a:r>
              <a:rPr lang="en-IN" dirty="0"/>
              <a:t>.(Gold layer)</a:t>
            </a:r>
          </a:p>
          <a:p>
            <a:endParaRPr lang="en-IN" b="1" dirty="0"/>
          </a:p>
          <a:p>
            <a:r>
              <a:rPr lang="en-IN" b="1" dirty="0"/>
              <a:t>Final View (Analytics):</a:t>
            </a:r>
            <a:endParaRPr lang="en-IN" dirty="0"/>
          </a:p>
          <a:p>
            <a:pPr lvl="1"/>
            <a:r>
              <a:rPr lang="en-IN" dirty="0"/>
              <a:t>Cleaned data ready for reporting.</a:t>
            </a:r>
          </a:p>
          <a:p>
            <a:endParaRPr lang="en-IN" sz="2500" b="1" dirty="0">
              <a:solidFill>
                <a:schemeClr val="dk1"/>
              </a:solidFill>
            </a:endParaRPr>
          </a:p>
        </p:txBody>
      </p:sp>
      <p:grpSp>
        <p:nvGrpSpPr>
          <p:cNvPr id="5" name="Google Shape;90;p15">
            <a:extLst>
              <a:ext uri="{FF2B5EF4-FFF2-40B4-BE49-F238E27FC236}">
                <a16:creationId xmlns:a16="http://schemas.microsoft.com/office/drawing/2014/main" id="{13CC007A-DA87-D19F-E337-281EB95DBE6C}"/>
              </a:ext>
            </a:extLst>
          </p:cNvPr>
          <p:cNvGrpSpPr/>
          <p:nvPr/>
        </p:nvGrpSpPr>
        <p:grpSpPr>
          <a:xfrm>
            <a:off x="7923665" y="176321"/>
            <a:ext cx="849300" cy="874500"/>
            <a:chOff x="8098925" y="1094575"/>
            <a:chExt cx="849300" cy="874500"/>
          </a:xfrm>
        </p:grpSpPr>
        <p:sp>
          <p:nvSpPr>
            <p:cNvPr id="6" name="Google Shape;91;p15">
              <a:extLst>
                <a:ext uri="{FF2B5EF4-FFF2-40B4-BE49-F238E27FC236}">
                  <a16:creationId xmlns:a16="http://schemas.microsoft.com/office/drawing/2014/main" id="{2302E203-68F1-FB27-8CF5-1D5EE814AAEF}"/>
                </a:ext>
              </a:extLst>
            </p:cNvPr>
            <p:cNvSpPr/>
            <p:nvPr/>
          </p:nvSpPr>
          <p:spPr>
            <a:xfrm>
              <a:off x="8098925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" name="Google Shape;92;p15">
              <a:extLst>
                <a:ext uri="{FF2B5EF4-FFF2-40B4-BE49-F238E27FC236}">
                  <a16:creationId xmlns:a16="http://schemas.microsoft.com/office/drawing/2014/main" id="{992D5852-5263-1F71-1EFE-D8B621962E0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37225" y="1245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02112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76EE-28C0-8281-5BF4-B13B663A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b="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Backfill Strategy Documentation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94163-5E27-6B7C-2412-738CE7BEC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371812" cy="34164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000" dirty="0"/>
              <a:t>{% if </a:t>
            </a:r>
            <a:r>
              <a:rPr lang="en-US" sz="1000" dirty="0" err="1"/>
              <a:t>is_incremental</a:t>
            </a:r>
            <a:r>
              <a:rPr lang="en-US" sz="1000" dirty="0"/>
              <a:t>() %}  </a:t>
            </a:r>
          </a:p>
          <a:p>
            <a:pPr marL="114300" indent="0">
              <a:buNone/>
            </a:pPr>
            <a:r>
              <a:rPr lang="en-US" sz="1000" dirty="0"/>
              <a:t>    -- This checks if the table already exists.</a:t>
            </a:r>
          </a:p>
          <a:p>
            <a:pPr marL="114300" indent="0">
              <a:buNone/>
            </a:pPr>
            <a:r>
              <a:rPr lang="en-US" sz="1000" dirty="0"/>
              <a:t>    -- If yes, do not reload all data again (no full refresh).</a:t>
            </a:r>
          </a:p>
          <a:p>
            <a:pPr marL="114300" indent="0">
              <a:buNone/>
            </a:pPr>
            <a:endParaRPr lang="en-US" sz="1000" dirty="0"/>
          </a:p>
          <a:p>
            <a:pPr marL="114300" indent="0">
              <a:buNone/>
            </a:pPr>
            <a:r>
              <a:rPr lang="en-US" sz="1000" dirty="0"/>
              <a:t>    {% if var('</a:t>
            </a:r>
            <a:r>
              <a:rPr lang="en-US" sz="1000" dirty="0" err="1"/>
              <a:t>backfill_start_date</a:t>
            </a:r>
            <a:r>
              <a:rPr lang="en-US" sz="1000" dirty="0"/>
              <a:t>', False) and var('</a:t>
            </a:r>
            <a:r>
              <a:rPr lang="en-US" sz="1000" dirty="0" err="1"/>
              <a:t>backfill_end_date</a:t>
            </a:r>
            <a:r>
              <a:rPr lang="en-US" sz="1000" dirty="0"/>
              <a:t>', False) %}</a:t>
            </a:r>
          </a:p>
          <a:p>
            <a:pPr marL="114300" indent="0">
              <a:buNone/>
            </a:pPr>
            <a:r>
              <a:rPr lang="en-US" sz="1000" dirty="0"/>
              <a:t>        -- Backfill mode:</a:t>
            </a:r>
          </a:p>
          <a:p>
            <a:pPr marL="114300" indent="0">
              <a:buNone/>
            </a:pPr>
            <a:r>
              <a:rPr lang="en-US" sz="1000" dirty="0"/>
              <a:t>        -- If start and end dates are provided,</a:t>
            </a:r>
          </a:p>
          <a:p>
            <a:pPr marL="114300" indent="0">
              <a:buNone/>
            </a:pPr>
            <a:r>
              <a:rPr lang="en-US" sz="1000" dirty="0"/>
              <a:t>        -- only that specific date range will be processed.</a:t>
            </a:r>
          </a:p>
          <a:p>
            <a:pPr marL="114300" indent="0">
              <a:buNone/>
            </a:pPr>
            <a:r>
              <a:rPr lang="en-US" sz="1000" dirty="0"/>
              <a:t>        -- This helps fix old data without touching the full table.</a:t>
            </a:r>
          </a:p>
          <a:p>
            <a:pPr marL="114300" indent="0">
              <a:buNone/>
            </a:pPr>
            <a:r>
              <a:rPr lang="en-US" sz="1000" dirty="0"/>
              <a:t>        WHERE </a:t>
            </a:r>
            <a:r>
              <a:rPr lang="en-US" sz="1000" dirty="0" err="1"/>
              <a:t>order_date</a:t>
            </a:r>
            <a:r>
              <a:rPr lang="en-US" sz="1000" dirty="0"/>
              <a:t> &gt;= '{{ var("</a:t>
            </a:r>
            <a:r>
              <a:rPr lang="en-US" sz="1000" dirty="0" err="1"/>
              <a:t>backfill_start_date</a:t>
            </a:r>
            <a:r>
              <a:rPr lang="en-US" sz="1000" dirty="0"/>
              <a:t>") }}'</a:t>
            </a:r>
          </a:p>
          <a:p>
            <a:pPr marL="114300" indent="0">
              <a:buNone/>
            </a:pPr>
            <a:r>
              <a:rPr lang="en-US" sz="1000" dirty="0"/>
              <a:t>          AND </a:t>
            </a:r>
            <a:r>
              <a:rPr lang="en-US" sz="1000" dirty="0" err="1"/>
              <a:t>order_date</a:t>
            </a:r>
            <a:r>
              <a:rPr lang="en-US" sz="1000" dirty="0"/>
              <a:t> &lt;= '{{ var("</a:t>
            </a:r>
            <a:r>
              <a:rPr lang="en-US" sz="1000" dirty="0" err="1"/>
              <a:t>backfill_end_date</a:t>
            </a:r>
            <a:r>
              <a:rPr lang="en-US" sz="1000" dirty="0"/>
              <a:t>") }}'</a:t>
            </a:r>
          </a:p>
          <a:p>
            <a:pPr marL="114300" indent="0">
              <a:buNone/>
            </a:pPr>
            <a:r>
              <a:rPr lang="en-US" sz="1000" dirty="0"/>
              <a:t>    </a:t>
            </a:r>
          </a:p>
          <a:p>
            <a:pPr marL="114300" indent="0">
              <a:buNone/>
            </a:pPr>
            <a:r>
              <a:rPr lang="en-US" sz="1000" dirty="0"/>
              <a:t>    {% else %}</a:t>
            </a:r>
          </a:p>
          <a:p>
            <a:pPr marL="114300" indent="0">
              <a:buNone/>
            </a:pPr>
            <a:r>
              <a:rPr lang="en-US" sz="1000" dirty="0"/>
              <a:t>        -- Normal incremental mode:</a:t>
            </a:r>
          </a:p>
          <a:p>
            <a:pPr marL="114300" indent="0">
              <a:buNone/>
            </a:pPr>
            <a:r>
              <a:rPr lang="en-US" sz="1000" dirty="0"/>
              <a:t>        -- Find the latest date already present in the table.</a:t>
            </a:r>
          </a:p>
          <a:p>
            <a:pPr marL="114300" indent="0">
              <a:buNone/>
            </a:pPr>
            <a:r>
              <a:rPr lang="en-US" sz="1000" dirty="0"/>
              <a:t>        -- Then load only the new data after that date.</a:t>
            </a:r>
          </a:p>
          <a:p>
            <a:pPr marL="114300" indent="0">
              <a:buNone/>
            </a:pPr>
            <a:r>
              <a:rPr lang="en-US" sz="1000" dirty="0"/>
              <a:t>        WHERE </a:t>
            </a:r>
            <a:r>
              <a:rPr lang="en-US" sz="1000" dirty="0" err="1"/>
              <a:t>order_date</a:t>
            </a:r>
            <a:r>
              <a:rPr lang="en-US" sz="1000" dirty="0"/>
              <a:t> &gt; (SELECT MAX(</a:t>
            </a:r>
            <a:r>
              <a:rPr lang="en-US" sz="1000" dirty="0" err="1"/>
              <a:t>order_date</a:t>
            </a:r>
            <a:r>
              <a:rPr lang="en-US" sz="1000" dirty="0"/>
              <a:t>) FROM {{ this }})</a:t>
            </a:r>
          </a:p>
          <a:p>
            <a:pPr marL="114300" indent="0">
              <a:buNone/>
            </a:pPr>
            <a:r>
              <a:rPr lang="en-US" sz="1000" dirty="0"/>
              <a:t>    {% endif %}</a:t>
            </a:r>
          </a:p>
          <a:p>
            <a:pPr marL="114300" indent="0">
              <a:buNone/>
            </a:pPr>
            <a:r>
              <a:rPr lang="en-US" sz="1000" dirty="0"/>
              <a:t>{% endif %}</a:t>
            </a:r>
            <a:endParaRPr lang="en-IN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F49D5-F209-5884-63D8-D5C98C0A0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197" y="1111775"/>
            <a:ext cx="4054103" cy="3168123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grpSp>
        <p:nvGrpSpPr>
          <p:cNvPr id="6" name="Google Shape;84;p15">
            <a:extLst>
              <a:ext uri="{FF2B5EF4-FFF2-40B4-BE49-F238E27FC236}">
                <a16:creationId xmlns:a16="http://schemas.microsoft.com/office/drawing/2014/main" id="{D5DAE4DE-40A4-3384-69FC-499BAEB98D8F}"/>
              </a:ext>
            </a:extLst>
          </p:cNvPr>
          <p:cNvGrpSpPr/>
          <p:nvPr/>
        </p:nvGrpSpPr>
        <p:grpSpPr>
          <a:xfrm>
            <a:off x="7983000" y="76097"/>
            <a:ext cx="849300" cy="874500"/>
            <a:chOff x="6123006" y="1094575"/>
            <a:chExt cx="849300" cy="874500"/>
          </a:xfrm>
        </p:grpSpPr>
        <p:sp>
          <p:nvSpPr>
            <p:cNvPr id="7" name="Google Shape;85;p15">
              <a:extLst>
                <a:ext uri="{FF2B5EF4-FFF2-40B4-BE49-F238E27FC236}">
                  <a16:creationId xmlns:a16="http://schemas.microsoft.com/office/drawing/2014/main" id="{AC90D6C0-278C-D6B1-53CC-522B368E233B}"/>
                </a:ext>
              </a:extLst>
            </p:cNvPr>
            <p:cNvSpPr/>
            <p:nvPr/>
          </p:nvSpPr>
          <p:spPr>
            <a:xfrm>
              <a:off x="6123006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8" name="Google Shape;86;p15">
              <a:extLst>
                <a:ext uri="{FF2B5EF4-FFF2-40B4-BE49-F238E27FC236}">
                  <a16:creationId xmlns:a16="http://schemas.microsoft.com/office/drawing/2014/main" id="{2296DA35-F0D8-D010-2277-02F70EE2B94B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14281" y="1198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99832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4F27-B480-5059-9774-E65D71D6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772" y="266124"/>
            <a:ext cx="4170823" cy="572700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n-IN" sz="20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Incremental Model Ref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008D0-3025-9878-ED54-81B437506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2593" y="782473"/>
            <a:ext cx="3346337" cy="73176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{{ config(materialized='incremental') }}</a:t>
            </a:r>
          </a:p>
          <a:p>
            <a:pPr marL="11430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This means: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only new data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reload full table every time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pipeline faster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7F6BFB-F9B5-C35C-F256-E1CD748595D5}"/>
              </a:ext>
            </a:extLst>
          </p:cNvPr>
          <p:cNvSpPr/>
          <p:nvPr/>
        </p:nvSpPr>
        <p:spPr>
          <a:xfrm>
            <a:off x="81775" y="110671"/>
            <a:ext cx="4176357" cy="4965922"/>
          </a:xfrm>
          <a:prstGeom prst="rect">
            <a:avLst/>
          </a:prstGeom>
          <a:solidFill>
            <a:srgbClr val="008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EFDD4-4656-3AA8-2D62-C276559A6011}"/>
              </a:ext>
            </a:extLst>
          </p:cNvPr>
          <p:cNvSpPr txBox="1"/>
          <p:nvPr/>
        </p:nvSpPr>
        <p:spPr>
          <a:xfrm>
            <a:off x="4411597" y="2871165"/>
            <a:ext cx="467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b="1" dirty="0"/>
          </a:p>
          <a:p>
            <a:endParaRPr lang="en-IN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920CE4-53FF-995F-3309-3058A505B7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2" r="13132"/>
          <a:stretch>
            <a:fillRect/>
          </a:stretch>
        </p:blipFill>
        <p:spPr>
          <a:xfrm>
            <a:off x="201486" y="266124"/>
            <a:ext cx="3828286" cy="2250192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oogle Shape;105;p15">
            <a:extLst>
              <a:ext uri="{FF2B5EF4-FFF2-40B4-BE49-F238E27FC236}">
                <a16:creationId xmlns:a16="http://schemas.microsoft.com/office/drawing/2014/main" id="{30F5E38D-A691-7871-5092-DB2FCD3BE277}"/>
              </a:ext>
            </a:extLst>
          </p:cNvPr>
          <p:cNvGrpSpPr/>
          <p:nvPr/>
        </p:nvGrpSpPr>
        <p:grpSpPr>
          <a:xfrm>
            <a:off x="8149899" y="73702"/>
            <a:ext cx="849300" cy="874500"/>
            <a:chOff x="7110966" y="2237575"/>
            <a:chExt cx="849300" cy="874500"/>
          </a:xfrm>
        </p:grpSpPr>
        <p:sp>
          <p:nvSpPr>
            <p:cNvPr id="16" name="Google Shape;106;p15">
              <a:extLst>
                <a:ext uri="{FF2B5EF4-FFF2-40B4-BE49-F238E27FC236}">
                  <a16:creationId xmlns:a16="http://schemas.microsoft.com/office/drawing/2014/main" id="{2A3873C4-9238-9E10-704C-8B26A471F3E1}"/>
                </a:ext>
              </a:extLst>
            </p:cNvPr>
            <p:cNvSpPr/>
            <p:nvPr/>
          </p:nvSpPr>
          <p:spPr>
            <a:xfrm>
              <a:off x="7110966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7" name="Google Shape;107;p15">
              <a:extLst>
                <a:ext uri="{FF2B5EF4-FFF2-40B4-BE49-F238E27FC236}">
                  <a16:creationId xmlns:a16="http://schemas.microsoft.com/office/drawing/2014/main" id="{25065B7A-5BB5-ADD2-EFC0-3D4F59B7F2E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02241" y="2341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2DDC789-F556-3F8D-0253-406D24EC227A}"/>
              </a:ext>
            </a:extLst>
          </p:cNvPr>
          <p:cNvSpPr txBox="1"/>
          <p:nvPr/>
        </p:nvSpPr>
        <p:spPr>
          <a:xfrm>
            <a:off x="4482593" y="3138778"/>
            <a:ext cx="416011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(SELECT MAX(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{{ this }})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This means: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only new records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duplicate data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A84394-3AC3-7F9A-89FA-A4E2F4D25A33}"/>
              </a:ext>
            </a:extLst>
          </p:cNvPr>
          <p:cNvSpPr txBox="1"/>
          <p:nvPr/>
        </p:nvSpPr>
        <p:spPr>
          <a:xfrm>
            <a:off x="4978890" y="2377066"/>
            <a:ext cx="24865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Incremental Logic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2400" u="sng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1A1266-E92D-AC03-CF30-761451211A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74"/>
          <a:stretch>
            <a:fillRect/>
          </a:stretch>
        </p:blipFill>
        <p:spPr>
          <a:xfrm>
            <a:off x="259873" y="2671769"/>
            <a:ext cx="3736492" cy="2265189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12668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80FC-3C20-14D9-C9F6-D56B0686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185" y="18841"/>
            <a:ext cx="4260300" cy="572700"/>
          </a:xfrm>
        </p:spPr>
        <p:txBody>
          <a:bodyPr>
            <a:noAutofit/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n-IN" sz="20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Macros Ref</a:t>
            </a:r>
            <a:br>
              <a:rPr lang="en-IN" sz="20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u="sng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388BD-BB95-B5F2-921D-01E3FF6AA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0" y="521755"/>
            <a:ext cx="4928841" cy="179333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macro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clean_string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%}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TRIM(UPPER(COALESCE({{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}}, 'UNKNOWN')))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endmacro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%}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Reusable function in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Cleans text data </a:t>
            </a:r>
          </a:p>
          <a:p>
            <a:pPr marL="1143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Example:</a:t>
            </a:r>
          </a:p>
          <a:p>
            <a:pPr marL="114300" indent="0">
              <a:buNone/>
            </a:pPr>
            <a:r>
              <a:rPr lang="en-IN" sz="1100" dirty="0"/>
              <a:t>Input: " </a:t>
            </a:r>
            <a:r>
              <a:rPr lang="en-IN" sz="1100" dirty="0" err="1"/>
              <a:t>rura</a:t>
            </a:r>
            <a:r>
              <a:rPr lang="en-IN" sz="1100" dirty="0"/>
              <a:t> " -&gt; Output: RUDRA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{{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clean_string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('name') }} FROM customers</a:t>
            </a:r>
          </a:p>
          <a:p>
            <a:pPr marL="1143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Benefit:</a:t>
            </a:r>
          </a:p>
          <a:p>
            <a:pPr marL="1143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code once, use many times Keeps code clean and consistent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5B8E3D-BB00-B381-35BF-C14D6A3D132B}"/>
              </a:ext>
            </a:extLst>
          </p:cNvPr>
          <p:cNvSpPr/>
          <p:nvPr/>
        </p:nvSpPr>
        <p:spPr>
          <a:xfrm>
            <a:off x="109875" y="123717"/>
            <a:ext cx="4347690" cy="5038623"/>
          </a:xfrm>
          <a:prstGeom prst="rect">
            <a:avLst/>
          </a:prstGeom>
          <a:solidFill>
            <a:srgbClr val="008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7DDF6F-8754-41BE-19F2-F186C07F9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15" y="207316"/>
            <a:ext cx="3738660" cy="2335882"/>
          </a:xfrm>
          <a:prstGeom prst="rect">
            <a:avLst/>
          </a:prstGeom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CDA0BA-F077-8058-D8F8-22AC4A0CEA53}"/>
              </a:ext>
            </a:extLst>
          </p:cNvPr>
          <p:cNvSpPr txBox="1"/>
          <p:nvPr/>
        </p:nvSpPr>
        <p:spPr>
          <a:xfrm>
            <a:off x="5161184" y="2405855"/>
            <a:ext cx="2861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ln w="0"/>
                <a:solidFill>
                  <a:srgbClr val="0086D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DBT Data Freshness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308F6-1F0B-520E-EE9B-4C8DECF43194}"/>
              </a:ext>
            </a:extLst>
          </p:cNvPr>
          <p:cNvSpPr txBox="1"/>
          <p:nvPr/>
        </p:nvSpPr>
        <p:spPr>
          <a:xfrm>
            <a:off x="4572000" y="2896731"/>
            <a:ext cx="42958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loaded_at_field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::timestamp"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freshness: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warn_after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{count: 12, period: hour}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error_after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{count: 24, period: hour}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 if data is older than 12 hours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if data is older than 24 hours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monitor data pipeline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42AF9F-1FC7-4FD3-4FB4-E1D60D932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12" y="2637177"/>
            <a:ext cx="3783264" cy="2407532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grpSp>
        <p:nvGrpSpPr>
          <p:cNvPr id="9" name="Google Shape;105;p15">
            <a:extLst>
              <a:ext uri="{FF2B5EF4-FFF2-40B4-BE49-F238E27FC236}">
                <a16:creationId xmlns:a16="http://schemas.microsoft.com/office/drawing/2014/main" id="{89E5BE84-06C3-5FE8-30BF-8D4CDEC9BBA9}"/>
              </a:ext>
            </a:extLst>
          </p:cNvPr>
          <p:cNvGrpSpPr/>
          <p:nvPr/>
        </p:nvGrpSpPr>
        <p:grpSpPr>
          <a:xfrm>
            <a:off x="8351180" y="94419"/>
            <a:ext cx="653742" cy="673139"/>
            <a:chOff x="7110966" y="2237575"/>
            <a:chExt cx="849300" cy="874500"/>
          </a:xfrm>
        </p:grpSpPr>
        <p:sp>
          <p:nvSpPr>
            <p:cNvPr id="10" name="Google Shape;106;p15">
              <a:extLst>
                <a:ext uri="{FF2B5EF4-FFF2-40B4-BE49-F238E27FC236}">
                  <a16:creationId xmlns:a16="http://schemas.microsoft.com/office/drawing/2014/main" id="{77240BD0-51DD-4D60-676B-9CCF05317852}"/>
                </a:ext>
              </a:extLst>
            </p:cNvPr>
            <p:cNvSpPr/>
            <p:nvPr/>
          </p:nvSpPr>
          <p:spPr>
            <a:xfrm>
              <a:off x="7110966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1" name="Google Shape;107;p15">
              <a:extLst>
                <a:ext uri="{FF2B5EF4-FFF2-40B4-BE49-F238E27FC236}">
                  <a16:creationId xmlns:a16="http://schemas.microsoft.com/office/drawing/2014/main" id="{AAEBB337-5281-F721-8E49-8E202B921A23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02241" y="2341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26235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812F-3B27-8CE8-0A4B-16DCF0C21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7629"/>
            <a:ext cx="8520600" cy="5727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Ingestion and DBT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01130-AF7E-4509-88EE-4E3B10992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254CF58-7A7F-16A2-78A4-DC7D1BD84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103757"/>
              </p:ext>
            </p:extLst>
          </p:nvPr>
        </p:nvGraphicFramePr>
        <p:xfrm>
          <a:off x="195953" y="817711"/>
          <a:ext cx="8520600" cy="3977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30150">
                  <a:extLst>
                    <a:ext uri="{9D8B030D-6E8A-4147-A177-3AD203B41FA5}">
                      <a16:colId xmlns:a16="http://schemas.microsoft.com/office/drawing/2014/main" val="3293532635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128984716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2501569422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2033306322"/>
                    </a:ext>
                  </a:extLst>
                </a:gridCol>
              </a:tblGrid>
              <a:tr h="237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1"/>
                          </a:solidFill>
                        </a:rPr>
                        <a:t>Step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1"/>
                          </a:solidFill>
                        </a:rPr>
                        <a:t>Command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What it does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1"/>
                          </a:solidFill>
                        </a:rPr>
                        <a:t>What to do next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566022"/>
                  </a:ext>
                </a:extLst>
              </a:tr>
              <a:tr h="237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docker-compose up -d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Starts PostgreSQL database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Load data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5273696"/>
                  </a:ext>
                </a:extLst>
              </a:tr>
              <a:tr h="237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python ingest_data.py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solidFill>
                            <a:schemeClr val="bg2"/>
                          </a:solidFill>
                        </a:rPr>
                        <a:t>Loads CSV data into raw tables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Check dbt connection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648705"/>
                  </a:ext>
                </a:extLst>
              </a:tr>
              <a:tr h="388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dbt debug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solidFill>
                            <a:schemeClr val="bg2"/>
                          </a:solidFill>
                        </a:rPr>
                        <a:t>Checks if dbt is connected to database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Run models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491107"/>
                  </a:ext>
                </a:extLst>
              </a:tr>
              <a:tr h="388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dbt run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solidFill>
                            <a:schemeClr val="bg2"/>
                          </a:solidFill>
                        </a:rPr>
                        <a:t>Builds all models (staging → intermediate → marts)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Run tests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342625"/>
                  </a:ext>
                </a:extLst>
              </a:tr>
              <a:tr h="388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dbt test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solidFill>
                            <a:schemeClr val="bg2"/>
                          </a:solidFill>
                        </a:rPr>
                        <a:t>Checks data quality (null, duplicates, relationships)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Check freshness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621779"/>
                  </a:ext>
                </a:extLst>
              </a:tr>
              <a:tr h="388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dbt source freshness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solidFill>
                            <a:schemeClr val="bg2"/>
                          </a:solidFill>
                        </a:rPr>
                        <a:t>Checks if data is fresh or outdated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Run incremental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762552"/>
                  </a:ext>
                </a:extLst>
              </a:tr>
              <a:tr h="388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dbt run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solidFill>
                            <a:schemeClr val="bg2"/>
                          </a:solidFill>
                        </a:rPr>
                        <a:t>Loads only new data (incremental run)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Try full refresh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217402"/>
                  </a:ext>
                </a:extLst>
              </a:tr>
              <a:tr h="237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dbt run --full-refresh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solidFill>
                            <a:schemeClr val="bg2"/>
                          </a:solidFill>
                        </a:rPr>
                        <a:t>Rebuilds full table from scratch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Try backfill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69642"/>
                  </a:ext>
                </a:extLst>
              </a:tr>
              <a:tr h="237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 err="1">
                          <a:solidFill>
                            <a:schemeClr val="bg2"/>
                          </a:solidFill>
                        </a:rPr>
                        <a:t>dbt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 docs generate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Creates documentation files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Open docs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842619"/>
                  </a:ext>
                </a:extLst>
              </a:tr>
              <a:tr h="237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10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dbt docs serve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Opens data model in browser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Run queries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64059"/>
                  </a:ext>
                </a:extLst>
              </a:tr>
              <a:tr h="388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11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SQL Query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chemeClr val="bg2"/>
                          </a:solidFill>
                        </a:rPr>
                        <a:t>Get insights from data (sales, revenue, etc.)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Final output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488475"/>
                  </a:ext>
                </a:extLst>
              </a:tr>
            </a:tbl>
          </a:graphicData>
        </a:graphic>
      </p:graphicFrame>
      <p:grpSp>
        <p:nvGrpSpPr>
          <p:cNvPr id="10" name="Google Shape;93;p15">
            <a:extLst>
              <a:ext uri="{FF2B5EF4-FFF2-40B4-BE49-F238E27FC236}">
                <a16:creationId xmlns:a16="http://schemas.microsoft.com/office/drawing/2014/main" id="{B2036D33-274D-3874-1D62-BDA5C6049597}"/>
              </a:ext>
            </a:extLst>
          </p:cNvPr>
          <p:cNvGrpSpPr/>
          <p:nvPr/>
        </p:nvGrpSpPr>
        <p:grpSpPr>
          <a:xfrm>
            <a:off x="8289247" y="82620"/>
            <a:ext cx="658800" cy="636785"/>
            <a:chOff x="195250" y="2237575"/>
            <a:chExt cx="849300" cy="874500"/>
          </a:xfrm>
        </p:grpSpPr>
        <p:sp>
          <p:nvSpPr>
            <p:cNvPr id="11" name="Google Shape;94;p15">
              <a:extLst>
                <a:ext uri="{FF2B5EF4-FFF2-40B4-BE49-F238E27FC236}">
                  <a16:creationId xmlns:a16="http://schemas.microsoft.com/office/drawing/2014/main" id="{91CC41C3-F2B1-0C5D-9253-31A9232329AE}"/>
                </a:ext>
              </a:extLst>
            </p:cNvPr>
            <p:cNvSpPr/>
            <p:nvPr/>
          </p:nvSpPr>
          <p:spPr>
            <a:xfrm>
              <a:off x="195250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ym typeface="Open Sans"/>
              </a:endParaRPr>
            </a:p>
          </p:txBody>
        </p:sp>
        <p:pic>
          <p:nvPicPr>
            <p:cNvPr id="12" name="Google Shape;95;p15">
              <a:extLst>
                <a:ext uri="{FF2B5EF4-FFF2-40B4-BE49-F238E27FC236}">
                  <a16:creationId xmlns:a16="http://schemas.microsoft.com/office/drawing/2014/main" id="{E19C9B15-AFA7-001A-FFEF-F16E93FB9926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33550" y="2388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75843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3EFD-CD39-0B5A-0635-2D3432C8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421011"/>
      </p:ext>
    </p:extLst>
  </p:cSld>
  <p:clrMapOvr>
    <a:masterClrMapping/>
  </p:clrMapOvr>
</p:sld>
</file>

<file path=ppt/theme/theme1.xml><?xml version="1.0" encoding="utf-8"?>
<a:theme xmlns:a="http://schemas.openxmlformats.org/drawingml/2006/main" name="Revel Labs">
  <a:themeElements>
    <a:clrScheme name="Simple Light">
      <a:dk1>
        <a:srgbClr val="0086D6"/>
      </a:dk1>
      <a:lt1>
        <a:srgbClr val="FFFFFF"/>
      </a:lt1>
      <a:dk2>
        <a:srgbClr val="000000"/>
      </a:dk2>
      <a:lt2>
        <a:srgbClr val="EEEEEE"/>
      </a:lt2>
      <a:accent1>
        <a:srgbClr val="62B5E5"/>
      </a:accent1>
      <a:accent2>
        <a:srgbClr val="00A3E0"/>
      </a:accent2>
      <a:accent3>
        <a:srgbClr val="0C2340"/>
      </a:accent3>
      <a:accent4>
        <a:srgbClr val="C8C9C7"/>
      </a:accent4>
      <a:accent5>
        <a:srgbClr val="888B8D"/>
      </a:accent5>
      <a:accent6>
        <a:srgbClr val="333F48"/>
      </a:accent6>
      <a:hlink>
        <a:srgbClr val="FE5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900</Words>
  <Application>Microsoft Office PowerPoint</Application>
  <PresentationFormat>On-screen Show (16:9)</PresentationFormat>
  <Paragraphs>119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Open Sans</vt:lpstr>
      <vt:lpstr>Times New Roman</vt:lpstr>
      <vt:lpstr>Montserrat</vt:lpstr>
      <vt:lpstr>Wingdings</vt:lpstr>
      <vt:lpstr>Revel Labs</vt:lpstr>
      <vt:lpstr>End-to-End Analytics Pipeline</vt:lpstr>
      <vt:lpstr>End-to-End Analytics Pipeline and Folder Architecture</vt:lpstr>
      <vt:lpstr> Data Pipeline Execution Flow</vt:lpstr>
      <vt:lpstr>Backfill Strategy Documentation Reference</vt:lpstr>
      <vt:lpstr> Incremental Model Ref</vt:lpstr>
      <vt:lpstr> Macros Ref </vt:lpstr>
      <vt:lpstr>Ingestion and DBT Commands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windows11</dc:creator>
  <cp:lastModifiedBy>Rudra Sharma</cp:lastModifiedBy>
  <cp:revision>2</cp:revision>
  <dcterms:modified xsi:type="dcterms:W3CDTF">2026-04-24T17:43:56Z</dcterms:modified>
</cp:coreProperties>
</file>